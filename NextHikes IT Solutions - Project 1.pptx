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6" r:id="rId5"/>
    <p:sldId id="271" r:id="rId6"/>
    <p:sldId id="279" r:id="rId7"/>
    <p:sldId id="283" r:id="rId8"/>
    <p:sldId id="281" r:id="rId9"/>
    <p:sldId id="280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71"/>
            <p14:sldId id="279"/>
            <p14:sldId id="283"/>
            <p14:sldId id="281"/>
            <p14:sldId id="280"/>
            <p14:sldId id="257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404040"/>
    <a:srgbClr val="FF9B45"/>
    <a:srgbClr val="DD462F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241" autoAdjust="0"/>
  </p:normalViewPr>
  <p:slideViewPr>
    <p:cSldViewPr snapToGrid="0">
      <p:cViewPr>
        <p:scale>
          <a:sx n="60" d="100"/>
          <a:sy n="60" d="100"/>
        </p:scale>
        <p:origin x="908" y="1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US" sz="4800" dirty="0" err="1"/>
              <a:t>NextHikes</a:t>
            </a:r>
            <a:r>
              <a:rPr lang="en-US" sz="4800" dirty="0"/>
              <a:t> IT Solutions - Project 1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966081" y="2860103"/>
            <a:ext cx="9794067" cy="1435450"/>
          </a:xfrm>
        </p:spPr>
        <p:txBody>
          <a:bodyPr>
            <a:normAutofit/>
          </a:bodyPr>
          <a:lstStyle/>
          <a:p>
            <a:r>
              <a:rPr lang="en-US" sz="3200" dirty="0"/>
              <a:t>Bike Sharing Demand Analysis Project Using Excel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dirty="0"/>
              <a:t>Excel Foundations &amp; Data Handling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7"/>
            <a:ext cx="4126083" cy="52057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Step 1: Data Setup Open the Excel sheet and select the entire data (Ctrl + A).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Go to Home &gt; Format as Table and apply any table style to convert the data into a table.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Make all headers bold: instant, </a:t>
            </a:r>
            <a:r>
              <a:rPr lang="en-US" sz="1000" dirty="0" err="1">
                <a:latin typeface="Segoe UI" panose="020B0502040204020203" pitchFamily="34" charset="0"/>
                <a:cs typeface="Segoe UI" panose="020B0502040204020203" pitchFamily="34" charset="0"/>
              </a:rPr>
              <a:t>dteday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, season, yr, </a:t>
            </a:r>
            <a:r>
              <a:rPr lang="en-US" sz="1000" dirty="0" err="1">
                <a:latin typeface="Segoe UI" panose="020B0502040204020203" pitchFamily="34" charset="0"/>
                <a:cs typeface="Segoe UI" panose="020B0502040204020203" pitchFamily="34" charset="0"/>
              </a:rPr>
              <a:t>mnth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sz="1000" dirty="0" err="1">
                <a:latin typeface="Segoe UI" panose="020B0502040204020203" pitchFamily="34" charset="0"/>
                <a:cs typeface="Segoe UI" panose="020B0502040204020203" pitchFamily="34" charset="0"/>
              </a:rPr>
              <a:t>hr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, holiday, weekday, weather sit, temp, </a:t>
            </a:r>
            <a:r>
              <a:rPr lang="en-US" sz="1000" dirty="0" err="1">
                <a:latin typeface="Segoe UI" panose="020B0502040204020203" pitchFamily="34" charset="0"/>
                <a:cs typeface="Segoe UI" panose="020B0502040204020203" pitchFamily="34" charset="0"/>
              </a:rPr>
              <a:t>atemp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, hum, windspeed, casual, registered, </a:t>
            </a:r>
            <a:r>
              <a:rPr lang="en-US" sz="1000" dirty="0" err="1">
                <a:latin typeface="Segoe UI" panose="020B0502040204020203" pitchFamily="34" charset="0"/>
                <a:cs typeface="Segoe UI" panose="020B0502040204020203" pitchFamily="34" charset="0"/>
              </a:rPr>
              <a:t>cnt</a:t>
            </a:r>
            <a:endParaRPr lang="en-US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Fix the date format:   Select the </a:t>
            </a:r>
            <a:r>
              <a:rPr lang="en-US" sz="1000" dirty="0" err="1">
                <a:latin typeface="Segoe UI" panose="020B0502040204020203" pitchFamily="34" charset="0"/>
                <a:cs typeface="Segoe UI" panose="020B0502040204020203" pitchFamily="34" charset="0"/>
              </a:rPr>
              <a:t>dteday</a:t>
            </a: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 column ,  Go to Data &gt; Text to Columns &gt; Delimited &gt; Finish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Step 2: Clean and Filter Data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Turn on filters: Data &gt; Filter or Ctrl + Shift + L 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Remove blanks : Click the filter drop-down, Uncheck Blanks</a:t>
            </a:r>
          </a:p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sz="1000" dirty="0">
                <a:latin typeface="Segoe UI" panose="020B0502040204020203" pitchFamily="34" charset="0"/>
                <a:cs typeface="Segoe UI" panose="020B0502040204020203" pitchFamily="34" charset="0"/>
              </a:rPr>
              <a:t>Date Only Use the formula:=IFS(G2=1,"1 Clear",G2=2,"2 Misty/Cloudy",G2=3,"3 Light rain/snow",G2=4,"4 Heavy rain/snow")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4AC943-0051-A4A4-909B-CC825507B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3264" y="1524706"/>
            <a:ext cx="7269126" cy="4769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Dataset_2 and Dataset_3</a:t>
            </a:r>
          </a:p>
        </p:txBody>
      </p:sp>
      <p:sp>
        <p:nvSpPr>
          <p:cNvPr id="25" name="Content Placeholder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How it works:</a:t>
            </a:r>
          </a:p>
        </p:txBody>
      </p:sp>
      <p:grpSp>
        <p:nvGrpSpPr>
          <p:cNvPr id="18" name="Group 17" descr="Small circle with number 1 inside  indicating step 1"/>
          <p:cNvGrpSpPr/>
          <p:nvPr/>
        </p:nvGrpSpPr>
        <p:grpSpPr bwMode="blackWhite">
          <a:xfrm>
            <a:off x="531552" y="1917997"/>
            <a:ext cx="558179" cy="409838"/>
            <a:chOff x="6953426" y="711274"/>
            <a:chExt cx="558179" cy="409838"/>
          </a:xfrm>
        </p:grpSpPr>
        <p:sp>
          <p:nvSpPr>
            <p:cNvPr id="19" name="Oval 18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TextBox 19" descr="Number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21" name="Content Placeholder 17"/>
          <p:cNvSpPr txBox="1">
            <a:spLocks/>
          </p:cNvSpPr>
          <p:nvPr/>
        </p:nvSpPr>
        <p:spPr>
          <a:xfrm>
            <a:off x="1056513" y="1958189"/>
            <a:ext cx="4585731" cy="59655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Data cleaning means correcting or removing incorrect, incomplete, duplicate, or irrelevant data so that the dataset becomes accurate and ready for analysis.</a:t>
            </a:r>
          </a:p>
        </p:txBody>
      </p:sp>
      <p:grpSp>
        <p:nvGrpSpPr>
          <p:cNvPr id="33" name="Group 32" descr="Small circle with number 2 inside  indicating step 2"/>
          <p:cNvGrpSpPr/>
          <p:nvPr/>
        </p:nvGrpSpPr>
        <p:grpSpPr bwMode="blackWhite">
          <a:xfrm>
            <a:off x="531552" y="2804257"/>
            <a:ext cx="558179" cy="409838"/>
            <a:chOff x="6953426" y="711274"/>
            <a:chExt cx="558179" cy="409838"/>
          </a:xfrm>
        </p:grpSpPr>
        <p:sp>
          <p:nvSpPr>
            <p:cNvPr id="34" name="Oval 3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 descr="Number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36" name="Content Placeholder 17"/>
          <p:cNvSpPr txBox="1">
            <a:spLocks/>
          </p:cNvSpPr>
          <p:nvPr/>
        </p:nvSpPr>
        <p:spPr>
          <a:xfrm>
            <a:off x="1056513" y="2769856"/>
            <a:ext cx="4504252" cy="1140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Examples of Data Cleaning: Removing blank cells Fixing wrong date formats Removing duplicate rows Converting text numbers into numeric values Handling missing values (delete or replace)</a:t>
            </a:r>
          </a:p>
        </p:txBody>
      </p:sp>
      <p:grpSp>
        <p:nvGrpSpPr>
          <p:cNvPr id="22" name="Group 21" descr="Small circle with number 3 inside  indicating step 3"/>
          <p:cNvGrpSpPr/>
          <p:nvPr/>
        </p:nvGrpSpPr>
        <p:grpSpPr bwMode="blackWhite">
          <a:xfrm>
            <a:off x="531552" y="4208299"/>
            <a:ext cx="558179" cy="409838"/>
            <a:chOff x="6953426" y="711274"/>
            <a:chExt cx="558179" cy="409838"/>
          </a:xfrm>
        </p:grpSpPr>
        <p:sp>
          <p:nvSpPr>
            <p:cNvPr id="24" name="Oval 2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 descr="Number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32" name="Content Placeholder 17"/>
          <p:cNvSpPr txBox="1">
            <a:spLocks/>
          </p:cNvSpPr>
          <p:nvPr/>
        </p:nvSpPr>
        <p:spPr>
          <a:xfrm>
            <a:off x="1056512" y="4076611"/>
            <a:ext cx="4504252" cy="76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cs typeface="Segoe UI"/>
              </a:rPr>
              <a:t>Data filtering means showing only the required data and hiding the rest based on a condition.</a:t>
            </a:r>
          </a:p>
        </p:txBody>
      </p:sp>
      <p:grpSp>
        <p:nvGrpSpPr>
          <p:cNvPr id="37" name="Group 36" descr="Small circle with number 4 inside  indicating step 4"/>
          <p:cNvGrpSpPr/>
          <p:nvPr/>
        </p:nvGrpSpPr>
        <p:grpSpPr bwMode="blackWhite">
          <a:xfrm>
            <a:off x="531552" y="5137379"/>
            <a:ext cx="558179" cy="409838"/>
            <a:chOff x="6953426" y="711274"/>
            <a:chExt cx="558179" cy="409838"/>
          </a:xfrm>
        </p:grpSpPr>
        <p:sp>
          <p:nvSpPr>
            <p:cNvPr id="38" name="Oval 37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TextBox 38" descr="Number 4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4</a:t>
              </a:r>
            </a:p>
          </p:txBody>
        </p:sp>
      </p:grpSp>
      <p:sp>
        <p:nvSpPr>
          <p:cNvPr id="40" name="Content Placeholder 17"/>
          <p:cNvSpPr txBox="1">
            <a:spLocks/>
          </p:cNvSpPr>
          <p:nvPr/>
        </p:nvSpPr>
        <p:spPr>
          <a:xfrm>
            <a:off x="1056512" y="5177571"/>
            <a:ext cx="4595257" cy="11404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2000"/>
              </a:spcAft>
              <a:buNone/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Examples of Data Filtering: Show only Holiday = TRUE, Show rentals greater than 500, Show data for Summer season, Show top 10 values of </a:t>
            </a:r>
            <a:r>
              <a:rPr lang="en-US" dirty="0" err="1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cnt</a:t>
            </a: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In Excel, how to apply Filter: Select header row Press Ctrl + Shift + L, Use dropdown arrows to filter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CFFC3A-C3B7-BC40-E7A1-10F3EEDA6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234" y="1287919"/>
            <a:ext cx="4504253" cy="25336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690262-7A67-493D-9779-6B4E98B35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234" y="3860866"/>
            <a:ext cx="4504252" cy="263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44699-4658-6E86-87FF-FF56C4A55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1,2 &amp; 3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C0CF7-6CC9-8E64-AF2D-2802D70A4B0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4556" y="1254854"/>
            <a:ext cx="11241378" cy="5305434"/>
          </a:xfrm>
        </p:spPr>
        <p:txBody>
          <a:bodyPr>
            <a:noAutofit/>
          </a:bodyPr>
          <a:lstStyle/>
          <a:p>
            <a:r>
              <a:rPr lang="en-IN" sz="1600" dirty="0"/>
              <a:t>Step 1: Data Setup Open the Excel sheet and select the entire data (Ctrl + A).Go to Home &gt; Format as Table and apply any table style to convert the data into a table. Make all headers bold: instant, </a:t>
            </a:r>
            <a:r>
              <a:rPr lang="en-IN" sz="1600" dirty="0" err="1"/>
              <a:t>dteday</a:t>
            </a:r>
            <a:r>
              <a:rPr lang="en-IN" sz="1600" dirty="0"/>
              <a:t>, season, yr, </a:t>
            </a:r>
            <a:r>
              <a:rPr lang="en-IN" sz="1600" dirty="0" err="1"/>
              <a:t>mnth</a:t>
            </a:r>
            <a:r>
              <a:rPr lang="en-IN" sz="1600" dirty="0"/>
              <a:t>, hr, holiday, weekday, </a:t>
            </a:r>
            <a:r>
              <a:rPr lang="en-IN" sz="1600" dirty="0" err="1"/>
              <a:t>weathersit</a:t>
            </a:r>
            <a:r>
              <a:rPr lang="en-IN" sz="1600" dirty="0"/>
              <a:t>, temp, </a:t>
            </a:r>
            <a:r>
              <a:rPr lang="en-IN" sz="1600" dirty="0" err="1"/>
              <a:t>atemp</a:t>
            </a:r>
            <a:r>
              <a:rPr lang="en-IN" sz="1600" dirty="0"/>
              <a:t>, hum, windspeed, casual, registered, </a:t>
            </a:r>
            <a:r>
              <a:rPr lang="en-IN" sz="1600" dirty="0" err="1"/>
              <a:t>cnt</a:t>
            </a:r>
            <a:r>
              <a:rPr lang="en-IN" sz="1600" dirty="0"/>
              <a:t> Fix the date format : Select the </a:t>
            </a:r>
            <a:r>
              <a:rPr lang="en-IN" sz="1600" dirty="0" err="1"/>
              <a:t>dteday</a:t>
            </a:r>
            <a:r>
              <a:rPr lang="en-IN" sz="1600" dirty="0"/>
              <a:t> column Go to Data &gt; Text to Columns &gt; Delimited &gt; Finish</a:t>
            </a:r>
          </a:p>
          <a:p>
            <a:r>
              <a:rPr lang="en-IN" sz="1600" dirty="0"/>
              <a:t>Step 2: Clean and Filter Data Turn on filters: Data &gt; Filter or Ctrl + Shift + L Remove blanks: Click the filter drop-down Uncheck Blanks Sort data by </a:t>
            </a:r>
            <a:r>
              <a:rPr lang="en-IN" sz="1600" dirty="0" err="1"/>
              <a:t>cnt</a:t>
            </a:r>
            <a:r>
              <a:rPr lang="en-IN" sz="1600" dirty="0"/>
              <a:t> in descending order: Data &gt; Sort &gt; </a:t>
            </a:r>
            <a:r>
              <a:rPr lang="en-IN" sz="1600" dirty="0" err="1"/>
              <a:t>cnt</a:t>
            </a:r>
            <a:r>
              <a:rPr lang="en-IN" sz="1600" dirty="0"/>
              <a:t> (Largest to Smallest)Filter holiday = TRUE to analyse rental behaver on holidays (rentals are usually lower). Clean text data: Create a new column named Date Only Use the formula:</a:t>
            </a:r>
          </a:p>
          <a:p>
            <a:r>
              <a:rPr lang="en-IN" sz="1600" dirty="0"/>
              <a:t>Step 3: Apply Basic Formulas Total Rentals:=SUM, Average Temperature:=AVERAGE Maximum Hourly Rentals:=MAX Count of Non-Holidays:=COUNTIF</a:t>
            </a:r>
          </a:p>
          <a:p>
            <a:r>
              <a:rPr lang="en-US" sz="1600" dirty="0"/>
              <a:t>Step 4: Conditional Formatting Select the temp column: Go to Home &gt; Conditional Formatting &gt; Color Scales Apply Green–Yellow–Red scale Higher temperature values (&gt;0.4) will appear in green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666860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Merge dataset_1 and dataset_2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4294967295"/>
          </p:nvPr>
        </p:nvSpPr>
        <p:spPr>
          <a:xfrm>
            <a:off x="541609" y="4433777"/>
            <a:ext cx="11356224" cy="207335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Steps: Go to Data &gt; Get Data &gt; From Table/Range (Dataset 1) 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Load Dataset 2 same way 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 Power Query: Home &gt; Merge Queries </a:t>
            </a:r>
          </a:p>
          <a:p>
            <a:pPr>
              <a:lnSpc>
                <a:spcPts val="1800"/>
              </a:lnSpc>
              <a:spcAft>
                <a:spcPts val="600"/>
              </a:spcAft>
            </a:pPr>
            <a:r>
              <a:rPr 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Select common column from both datasets Choose join type: Inner Join → matching data only Left Join → all from Dataset 1 Right Join → all from Dataset 2 Full Join → all data Click OK → Expand columns → Close &amp; Load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A555BA-8314-C11F-696D-50CD2C126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88" y="1311419"/>
            <a:ext cx="5316278" cy="28990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75E39C-464A-83AF-580E-A18D280A4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311419"/>
            <a:ext cx="5447412" cy="292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36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Content Placeholder 17"/>
          <p:cNvSpPr txBox="1">
            <a:spLocks/>
          </p:cNvSpPr>
          <p:nvPr/>
        </p:nvSpPr>
        <p:spPr>
          <a:xfrm>
            <a:off x="541609" y="1455491"/>
            <a:ext cx="5110161" cy="4711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endParaRPr lang="en-US" dirty="0"/>
          </a:p>
        </p:txBody>
      </p:sp>
      <p:grpSp>
        <p:nvGrpSpPr>
          <p:cNvPr id="13" name="Group 12" descr="Small circle with number 1 inside  indicating step 1"/>
          <p:cNvGrpSpPr/>
          <p:nvPr/>
        </p:nvGrpSpPr>
        <p:grpSpPr bwMode="blackWhite">
          <a:xfrm>
            <a:off x="558723" y="1917997"/>
            <a:ext cx="558179" cy="409838"/>
            <a:chOff x="6953426" y="711274"/>
            <a:chExt cx="558179" cy="409838"/>
          </a:xfrm>
        </p:grpSpPr>
        <p:sp>
          <p:nvSpPr>
            <p:cNvPr id="14" name="Oval 1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TextBox 14" descr="Number 1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16" name="Content Placeholder 17"/>
          <p:cNvSpPr txBox="1">
            <a:spLocks/>
          </p:cNvSpPr>
          <p:nvPr/>
        </p:nvSpPr>
        <p:spPr>
          <a:xfrm>
            <a:off x="1182206" y="1934287"/>
            <a:ext cx="4712913" cy="638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AFTER MERGING DATASET_1 AND DATASET_2,AND THAN WE HAVE DATASET_A </a:t>
            </a:r>
          </a:p>
        </p:txBody>
      </p:sp>
      <p:grpSp>
        <p:nvGrpSpPr>
          <p:cNvPr id="18" name="Group 17" descr="Small circle with number 2 inside  indicating step 2"/>
          <p:cNvGrpSpPr/>
          <p:nvPr/>
        </p:nvGrpSpPr>
        <p:grpSpPr bwMode="blackWhite">
          <a:xfrm>
            <a:off x="558723" y="2896735"/>
            <a:ext cx="558179" cy="409838"/>
            <a:chOff x="6953426" y="711274"/>
            <a:chExt cx="558179" cy="409838"/>
          </a:xfrm>
        </p:grpSpPr>
        <p:sp>
          <p:nvSpPr>
            <p:cNvPr id="23" name="Oval 22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 descr="Number 2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25" name="Content Placeholder 17"/>
          <p:cNvSpPr txBox="1">
            <a:spLocks/>
          </p:cNvSpPr>
          <p:nvPr/>
        </p:nvSpPr>
        <p:spPr>
          <a:xfrm>
            <a:off x="1131358" y="2913026"/>
            <a:ext cx="4886668" cy="5061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AFTER THAT, WE MERGED DETASET_A WITH DATASET_3  </a:t>
            </a:r>
          </a:p>
        </p:txBody>
      </p:sp>
      <p:grpSp>
        <p:nvGrpSpPr>
          <p:cNvPr id="26" name="Group 25" descr="Small circle with number 3 inside  indicating step 3"/>
          <p:cNvGrpSpPr/>
          <p:nvPr/>
        </p:nvGrpSpPr>
        <p:grpSpPr bwMode="blackWhite">
          <a:xfrm>
            <a:off x="576797" y="3708517"/>
            <a:ext cx="558179" cy="409838"/>
            <a:chOff x="6953426" y="711274"/>
            <a:chExt cx="558179" cy="409838"/>
          </a:xfrm>
        </p:grpSpPr>
        <p:sp>
          <p:nvSpPr>
            <p:cNvPr id="27" name="Oval 26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TextBox 27" descr="Number 3"/>
            <p:cNvSpPr txBox="1">
              <a:spLocks noChangeAspect="1"/>
            </p:cNvSpPr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29" name="Content Placeholder 17"/>
          <p:cNvSpPr txBox="1">
            <a:spLocks/>
          </p:cNvSpPr>
          <p:nvPr/>
        </p:nvSpPr>
        <p:spPr>
          <a:xfrm>
            <a:off x="1206618" y="3731770"/>
            <a:ext cx="4067129" cy="673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AFTER THAT,WE OBTAINED THE FINAL DATASET </a:t>
            </a:r>
          </a:p>
        </p:txBody>
      </p:sp>
      <p:cxnSp>
        <p:nvCxnSpPr>
          <p:cNvPr id="20" name="Straight Connector 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296866" y="1472431"/>
            <a:ext cx="0" cy="4892634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E7849901-2432-BE4A-6348-14B546DB1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FINAL DATASET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64E3A9-31E2-2AE8-91D9-24BD6284D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8021" y="1254292"/>
            <a:ext cx="4842018" cy="244665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0EAFE93-5502-594C-AE4C-8BC2CFDD3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334" y="3563461"/>
            <a:ext cx="5060415" cy="2846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833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Light" panose="020B0502040204020203" pitchFamily="34" charset="0"/>
                <a:cs typeface="Segoe UI Light" panose="020B0502040204020203" pitchFamily="34" charset="0"/>
              </a:rPr>
              <a:t>Final Dashboard</a:t>
            </a:r>
          </a:p>
        </p:txBody>
      </p:sp>
      <p:grpSp>
        <p:nvGrpSpPr>
          <p:cNvPr id="33" name="Group 32" descr="Small circle with number 1 inside indicating step 1"/>
          <p:cNvGrpSpPr/>
          <p:nvPr/>
        </p:nvGrpSpPr>
        <p:grpSpPr bwMode="blackWhite">
          <a:xfrm>
            <a:off x="558723" y="4531632"/>
            <a:ext cx="558179" cy="409838"/>
            <a:chOff x="6953426" y="711274"/>
            <a:chExt cx="558179" cy="409838"/>
          </a:xfrm>
        </p:grpSpPr>
        <p:sp>
          <p:nvSpPr>
            <p:cNvPr id="34" name="Oval 33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TextBox 34" descr="Number 1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1</a:t>
              </a:r>
            </a:p>
          </p:txBody>
        </p:sp>
      </p:grpSp>
      <p:sp>
        <p:nvSpPr>
          <p:cNvPr id="42" name="Content Placeholder 17"/>
          <p:cNvSpPr txBox="1">
            <a:spLocks/>
          </p:cNvSpPr>
          <p:nvPr/>
        </p:nvSpPr>
        <p:spPr>
          <a:xfrm>
            <a:off x="1066039" y="4571824"/>
            <a:ext cx="2696774" cy="9925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Final Dashboard is a visual summary of the complete analysis.</a:t>
            </a:r>
          </a:p>
        </p:txBody>
      </p:sp>
      <p:grpSp>
        <p:nvGrpSpPr>
          <p:cNvPr id="36" name="Group 35" descr="Small circle with number 2 inside indicating step 2"/>
          <p:cNvGrpSpPr/>
          <p:nvPr/>
        </p:nvGrpSpPr>
        <p:grpSpPr bwMode="blackWhite">
          <a:xfrm>
            <a:off x="4249102" y="4531632"/>
            <a:ext cx="558179" cy="409838"/>
            <a:chOff x="6953426" y="711274"/>
            <a:chExt cx="558179" cy="409838"/>
          </a:xfrm>
        </p:grpSpPr>
        <p:sp>
          <p:nvSpPr>
            <p:cNvPr id="37" name="Oval 36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 descr="Number 2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2</a:t>
              </a:r>
            </a:p>
          </p:txBody>
        </p:sp>
      </p:grpSp>
      <p:sp>
        <p:nvSpPr>
          <p:cNvPr id="43" name="Content Placeholder 17"/>
          <p:cNvSpPr txBox="1">
            <a:spLocks/>
          </p:cNvSpPr>
          <p:nvPr/>
        </p:nvSpPr>
        <p:spPr>
          <a:xfrm>
            <a:off x="4747855" y="4571824"/>
            <a:ext cx="3106367" cy="1324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displays key results and insights on one single screen.</a:t>
            </a:r>
          </a:p>
        </p:txBody>
      </p:sp>
      <p:grpSp>
        <p:nvGrpSpPr>
          <p:cNvPr id="39" name="Group 38" descr="Small circle with number 3 inside  indicating step 3"/>
          <p:cNvGrpSpPr/>
          <p:nvPr/>
        </p:nvGrpSpPr>
        <p:grpSpPr bwMode="blackWhite">
          <a:xfrm>
            <a:off x="7930921" y="4531632"/>
            <a:ext cx="558179" cy="409838"/>
            <a:chOff x="6953426" y="711274"/>
            <a:chExt cx="558179" cy="409838"/>
          </a:xfrm>
        </p:grpSpPr>
        <p:sp>
          <p:nvSpPr>
            <p:cNvPr id="40" name="Oval 39" descr="Small circle"/>
            <p:cNvSpPr/>
            <p:nvPr/>
          </p:nvSpPr>
          <p:spPr bwMode="blackWhite">
            <a:xfrm>
              <a:off x="7025069" y="711274"/>
              <a:ext cx="409838" cy="409838"/>
            </a:xfrm>
            <a:prstGeom prst="ellipse">
              <a:avLst/>
            </a:prstGeom>
            <a:solidFill>
              <a:srgbClr val="D247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TextBox 40" descr="Number 3"/>
            <p:cNvSpPr txBox="1"/>
            <p:nvPr/>
          </p:nvSpPr>
          <p:spPr bwMode="blackWhite">
            <a:xfrm>
              <a:off x="6953426" y="727564"/>
              <a:ext cx="5581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3</a:t>
              </a:r>
            </a:p>
          </p:txBody>
        </p:sp>
      </p:grpSp>
      <p:sp>
        <p:nvSpPr>
          <p:cNvPr id="44" name="Content Placeholder 17"/>
          <p:cNvSpPr txBox="1">
            <a:spLocks/>
          </p:cNvSpPr>
          <p:nvPr/>
        </p:nvSpPr>
        <p:spPr>
          <a:xfrm>
            <a:off x="8429668" y="4571823"/>
            <a:ext cx="3329941" cy="1573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2000"/>
              </a:spcAft>
              <a:buNone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dashboard is created using the final cleaned and merged dataset. It includes charts, pivot tables, and key metrics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7A7775-FE88-4514-162C-DABFBF634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67" y="2093070"/>
            <a:ext cx="3324945" cy="1870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349231-8AD0-FD84-89D1-DA133F606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5253" y="2030486"/>
            <a:ext cx="3547463" cy="19954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AEFFC9-5AC4-C152-1FCC-01DBDFC5D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745" y="2046181"/>
            <a:ext cx="3324945" cy="187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in32 v2" id="{08D89365-2E4C-432D-9349-8DF9B80AEEA1}" vid="{010FF314-90DF-4A21-BD0D-ADCBA34234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3EE4EA-81C0-48D0-BEBD-A2EFD6B38B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563EE24-83AF-4B4D-B45B-11D1ECD436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FC9C26-AD58-4393-99DE-F67958CF6A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{BEFAE132-DE6D-48F2-97F6-442432EF0333}TF2989475c-5427-4edb-9ec1-00f4ce72165b77c8433f_win32-c33c42577f73</Template>
  <TotalTime>107</TotalTime>
  <Words>736</Words>
  <Application>Microsoft Office PowerPoint</Application>
  <PresentationFormat>Widescreen</PresentationFormat>
  <Paragraphs>46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Segoe UI</vt:lpstr>
      <vt:lpstr>Segoe UI Light</vt:lpstr>
      <vt:lpstr>Segoe UI Semibold</vt:lpstr>
      <vt:lpstr>Custom</vt:lpstr>
      <vt:lpstr>NextHikes IT Solutions - Project 1</vt:lpstr>
      <vt:lpstr>Excel Foundations &amp; Data Handling</vt:lpstr>
      <vt:lpstr>Dataset_2 and Dataset_3</vt:lpstr>
      <vt:lpstr>DATASET 1,2 &amp; 3 INFORMATION</vt:lpstr>
      <vt:lpstr>Merge dataset_1 and dataset_2</vt:lpstr>
      <vt:lpstr>FINAL DATASET</vt:lpstr>
      <vt:lpstr>Final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sachin silmana</dc:creator>
  <cp:keywords/>
  <cp:lastModifiedBy>sachin silmana</cp:lastModifiedBy>
  <cp:revision>12</cp:revision>
  <dcterms:created xsi:type="dcterms:W3CDTF">2026-01-19T16:08:48Z</dcterms:created>
  <dcterms:modified xsi:type="dcterms:W3CDTF">2026-01-19T17:56:41Z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